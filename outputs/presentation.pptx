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1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36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5706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Consumption Optimization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AI-Based Tools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Coast Guard — Problem Statement 77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Quantum-Inspired Optimization for Maritime Fuel Efficiency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Amitanshu Lal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828800" cy="27432"/>
          </a:xfrm>
          <a:prstGeom prst="rect">
            <a:avLst/>
          </a:prstGeom>
          <a:solidFill>
            <a:srgbClr val="E8772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2560320" cy="2926080"/>
          </a:xfrm>
          <a:prstGeom prst="rect">
            <a:avLst/>
          </a:prstGeom>
          <a:solidFill>
            <a:srgbClr val="F4F6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80160"/>
            <a:ext cx="2560320" cy="54864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63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Cubic Speed-Power Law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ship's fuel burn rate grows with the cube of speed. Doubling speed increases fuel rate ~8×. Even small speed reductions yield large savings.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280160"/>
            <a:ext cx="2560320" cy="2926080"/>
          </a:xfrm>
          <a:prstGeom prst="rect">
            <a:avLst/>
          </a:prstGeom>
          <a:solidFill>
            <a:srgbClr val="F4F6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280160"/>
            <a:ext cx="2560320" cy="54864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463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Constraint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210312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must arrive by a deadline (mission schedule). The captain cannot just go as slow as possible — there is a minimum feasible speed.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560320" cy="2926080"/>
          </a:xfrm>
          <a:prstGeom prst="rect">
            <a:avLst/>
          </a:prstGeom>
          <a:solidFill>
            <a:srgbClr val="F4F6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280160"/>
            <a:ext cx="2560320" cy="54864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463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10312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Waves, wind, and currents change fuel burn significantly. A storm can increase fuel consumption by 30-50%. Route matters, not just speed.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6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fuel_rate  ∝  displacement²ᐟ³  ×  speed³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Fuel Burn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11887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ML model that learns the cubic speed-power law from ship voyage data and predicts fuel rate (tonnes/day) for any condition.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2103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Speed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1031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fuel-minimizing speed that still meets the arrival deadline — data-driven slow steaming with CO₂ reporting.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175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3017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Route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30175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minimum-fuel path through a weather field, detouring around storms when the fuel savings outweigh the extra distance.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7863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9319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3931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Quantum-Inspired QUBO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39319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both problems as QUBOs — the binary optimization form quantum annealers solve natively — portable to D-Wave hardware.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— Phased Development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5" name="Shape 3"/>
          <p:cNvSpPr/>
          <p:nvPr/>
        </p:nvSpPr>
        <p:spPr>
          <a:xfrm>
            <a:off x="1533215" y="1280160"/>
            <a:ext cx="2697480" cy="3291840"/>
          </a:xfrm>
          <a:prstGeom prst="rect">
            <a:avLst/>
          </a:prstGeom>
          <a:solidFill>
            <a:srgbClr val="F4F6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3215" y="1280160"/>
            <a:ext cx="2697480" cy="457200"/>
          </a:xfrm>
          <a:prstGeom prst="rect">
            <a:avLst/>
          </a:prstGeom>
          <a:solidFill>
            <a:srgbClr val="1B65A6"/>
          </a:solidFill>
          <a:ln/>
        </p:spPr>
      </p:sp>
      <p:sp>
        <p:nvSpPr>
          <p:cNvPr id="7" name="Text 5"/>
          <p:cNvSpPr/>
          <p:nvPr/>
        </p:nvSpPr>
        <p:spPr>
          <a:xfrm>
            <a:off x="1533215" y="12801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16095" y="1874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ML + Classical Optimization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16095" y="24231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from physics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ML fuel-rate model (R² ≈ 0.99)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 speed optimizer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validation + CO₂ reporting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30695" y="25603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413575" y="1280160"/>
            <a:ext cx="2697480" cy="3291840"/>
          </a:xfrm>
          <a:prstGeom prst="rect">
            <a:avLst/>
          </a:prstGeom>
          <a:solidFill>
            <a:srgbClr val="F4F6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13575" y="1280160"/>
            <a:ext cx="2697480" cy="457200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13" name="Text 11"/>
          <p:cNvSpPr/>
          <p:nvPr/>
        </p:nvSpPr>
        <p:spPr>
          <a:xfrm>
            <a:off x="4413575" y="12801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6455" y="1874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Quantum-Inspired QUBO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96455" y="24231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optimization as QUBO (proof)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routing as QUBO (headline)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with neal (D-Wave sampler)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exact DP solver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12801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Classes Modeled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Indian Coast Guard ship classes spanning small interceptors to large patrol vessels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26060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Interceptor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Patrol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Offshore Patrol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Displacement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~550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~2000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Power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 kW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 kW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12,000 kW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Hull Coefficient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kn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kn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kn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kn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kn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kn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Types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MGO / VLSFO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VLSFO / HFO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 — Physics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4754880" cy="3474720"/>
          </a:xfrm>
          <a:prstGeom prst="rect">
            <a:avLst/>
          </a:prstGeom>
          <a:solidFill>
            <a:srgbClr val="16254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Physics (Admiralty Law)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4389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propulsion = 5×10⁻⁵ × disp²ᐟ³ × (speed − current)³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× hull_coeff × (1 + 0.06 × waves)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× (1 + 0.005 × wind) × laden_factor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hotel_load = 0.02 × displacement²ᐟ³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fuel_rate = (propulsion + hotel) / fuel_energy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× (1 + 6% noise)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0" y="1188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Synthetic Records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0" y="17373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ship class + parameters from Gaussian distributions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height: Gamma(2,1) distribution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Wind: correlated with waves (5 + 6×waves + noise)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Normal(0, 1.2 kn)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Load: Laden (1.15×) or Ballast (0.85×)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multiplicative noise simulates real-world measurement uncertainty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4F6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1B65A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Features (ship design)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displacement_tonnes — ship's total mass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engine_power_kw — installed engine power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hull_coefficient — hull shape (drag factor)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ship_type — Interceptor / Fast / Offshore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fuel_type — MGO / VLSFO / HFO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4F6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Features (voyage conditions)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speed_knots — the decision variable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wave_height_m — sea state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wind_speed_kn — wind conditions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current_speed_kn — ocean current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load_condition — Laden / Ballast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6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 fuel_rate_tpd  (tonnes per day)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1508760" cy="822960"/>
          </a:xfrm>
          <a:prstGeom prst="rect">
            <a:avLst/>
          </a:prstGeom>
          <a:solidFill>
            <a:srgbClr val="1B65A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65960" y="128016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94560" y="1280160"/>
            <a:ext cx="1508760" cy="822960"/>
          </a:xfrm>
          <a:prstGeom prst="rect">
            <a:avLst/>
          </a:prstGeom>
          <a:solidFill>
            <a:srgbClr val="1B65A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0" y="12801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03320" y="128016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931920" y="1280160"/>
            <a:ext cx="1508760" cy="822960"/>
          </a:xfrm>
          <a:prstGeom prst="rect">
            <a:avLst/>
          </a:prstGeom>
          <a:solidFill>
            <a:srgbClr val="1B65A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0" y="12801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40680" y="128016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669280" y="1280160"/>
            <a:ext cx="1508760" cy="822960"/>
          </a:xfrm>
          <a:prstGeom prst="rect">
            <a:avLst/>
          </a:prstGeom>
          <a:solidFill>
            <a:srgbClr val="E8772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12801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78040" y="128016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406640" y="1280160"/>
            <a:ext cx="1508760" cy="822960"/>
          </a:xfrm>
          <a:prstGeom prst="rect">
            <a:avLst/>
          </a:prstGeom>
          <a:solidFill>
            <a:srgbClr val="E8772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06640" y="12801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283464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features: pass through unchanged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features: OneHotEncoder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bundles preprocessing + model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call for prediction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468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Compared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28346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(baseline)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(200 trees)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 (best)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E8772E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16459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solidFill>
            <a:srgbClr val="FFF7E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3108960"/>
            <a:ext cx="54864" cy="1280160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520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fails badly (R² = 0.65, MAPE = 354%) because it cannot capture the cubic speed-power law across ships spanning 5–90 t/day. This demonstrates WHY nonlinear ML models are essential for this problem. Gradient Boosting achieves R² ≈ 0.99 — the model has effectively rediscovered the physics from noisy data.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Optimization — The U-Shaped Curve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total_fuel = rate(speed) × distance / (24 × speed)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931920" cy="164592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45920"/>
            <a:ext cx="54864" cy="1645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Faster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fuel rate (cubic law)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grows as speed³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fuel per hour at sea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3931920" cy="1645920"/>
          </a:xfrm>
          <a:prstGeom prst="rect">
            <a:avLst/>
          </a:prstGeom>
          <a:solidFill>
            <a:srgbClr val="FFF7E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45920"/>
            <a:ext cx="54864" cy="1645920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Slower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1031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voyage time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load accumulates (generators,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run regardless of speed)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66160"/>
            <a:ext cx="54864" cy="1188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57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A U-Shaped Curve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977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of the U is the "economic speed." Under a tight deadline, the minimum feasible speed may be above it. Under a relaxed deadline, the optimizer reaches the true economic speed — going even slower would waste fuel.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 (SA)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a random solution with high temperature 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a small random change (adjust speed / flip a bit)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change improves objective → always accept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change worsens by ΔE → accept with probability exp(−ΔE / 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temperature: T → T × 0.995 (cooling schedule)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2,000 iterations until T ≈ 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0" y="1097280"/>
            <a:ext cx="2743200" cy="1371600"/>
          </a:xfrm>
          <a:prstGeom prst="rect">
            <a:avLst/>
          </a:prstGeom>
          <a:solidFill>
            <a:srgbClr val="16254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Metropolis Rule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P(accept) = exp(−ΔE / 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 → explore freely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 → only accept improvements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F4F6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657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Gradient Descent?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977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needs continuous, differentiable functions — it computes slopes and slides downhill. Our QUBO variables are binary (0 or 1): there is no gradient. SA works by evaluating the function at random neighbors (no derivatives needed) and can escape local minima via the Metropolis rule.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Optimization —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Patrol Vessel, 600 nm leg, baseline = 18 kn service speed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12344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(t)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 Saved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 schedule (40 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 kn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Relaxed schedule (90 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 kn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121.8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14400" y="2743200"/>
            <a:ext cx="3200400" cy="164592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2834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−29%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saved (tight deadline)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0" y="2743200"/>
            <a:ext cx="3200400" cy="164592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0" y="2834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−68%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502920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saved (relaxed deadline)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B6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matches brute-force grid optimum to within 0.01 kn — confirmed true optimum.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Optimization — Plots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voyage_fuel_vs_speed.png and speed_qubo plots here ]</a:t>
            </a: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53819D-0F3B-7DB9-1BA1-9DE0C0E2B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18" y="1188721"/>
            <a:ext cx="3908044" cy="2442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15D58F-5E40-D7AA-EB0F-A1E93232D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7762" y="2298493"/>
            <a:ext cx="4466158" cy="24563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— Quadratic Unconstrained Binary Optimization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16254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minimize   H  =  Σᵢ qᵢ·xᵢ   +   Σᵢⱼ qᵢⱼ·xᵢ·xⱼ       where  xᵢ ∈ {0, 1}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F4F6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65960"/>
            <a:ext cx="54864" cy="822960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Ising Model Equivalence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(0/1 variables) is mathematically identical to the Ising model (±1 spins) from 1920s physics — the substitution sᵢ = 2xᵢ − 1 converts between them.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4F6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26080"/>
            <a:ext cx="54864" cy="822960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as Penalties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"subject to" section. Constraints become penalty terms: e.g., pick exactly one option → P × (Σxᵢ − 1)². Violating adds huge energy.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F4F6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886200"/>
            <a:ext cx="54864" cy="822960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31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Portable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D-Wave quantum annealers solve QUBO/Ising natively. The same QUBO dict we pass to neal (classical) can go to DWaveSampler() — one line change.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Lucas (2014), "Ising formulations of many NP problems"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Speed Optimization (Phase 2a)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16254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Encoding (One-Hot Discretization)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 =  Σᵢ fuelᵢ · xᵢ                         (minimize fuel)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+  P × (Σᵢ xᵢ − 1)²                      (pick exactly one speed)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+  P × Σ (infeasible xᵢ)                  (meet the deadline)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40 candidate speeds, 600 nm, 40 h deadline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108960"/>
          <a:ext cx="6400800" cy="14630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(kn)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(t)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QUBO (neal)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Annealing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Brute-force Grid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matches grid within the 0.54 kn discretization step — QUBO machinery is correct ✓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Routing — 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solidFill>
            <a:srgbClr val="F4F6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54864" cy="777240"/>
          </a:xfrm>
          <a:prstGeom prst="rect">
            <a:avLst/>
          </a:prstGeom>
          <a:solidFill>
            <a:srgbClr val="1B65A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Discretization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118872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region becomes an n_rows × n_cols grid. Ship starts at the west port, must reach the east port, advancing one column per stage.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solidFill>
            <a:srgbClr val="F4F6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57400"/>
            <a:ext cx="54864" cy="777240"/>
          </a:xfrm>
          <a:prstGeom prst="rect">
            <a:avLst/>
          </a:prstGeom>
          <a:solidFill>
            <a:srgbClr val="1B65A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03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Rules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210312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stage, the ship can stay in the same row or move ±1 row (north/south). No teleporting across multiple rows.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F4F6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71800"/>
            <a:ext cx="54864" cy="777240"/>
          </a:xfrm>
          <a:prstGeom prst="rect">
            <a:avLst/>
          </a:prstGeom>
          <a:solidFill>
            <a:srgbClr val="1B65A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175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ML-Driven Cell Costs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301752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cell's fuel cost is computed by the Phase 1 Gradient Boosting model using that cell's wave height and corresponding wind.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F4F6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886200"/>
            <a:ext cx="54864" cy="777240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9319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 Explosion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393192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possible paths = rows^cols. For an 11×25 grid: 11²⁵ ≈ 10²⁶ paths. Brute force is impossible — we need QUBO.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Routing — QUBO Formulation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6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 variable   x[c, r]  =  1   ⟺   "ship is in row r at column c"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2560320"/>
          </a:xfrm>
          <a:prstGeom prst="rect">
            <a:avLst/>
          </a:prstGeom>
          <a:solidFill>
            <a:srgbClr val="16254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Hamiltonian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 =  Σ  cost[r,c] · x[c,r]                                    (fuel objective)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+  surcharge × cost[r',c+1] · x[c,r] · x[c+1,r']            (diagonal penalty)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+  P × Σc (Σr x[c,r] − 1)²                                  (one row per column)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+  P × (wrong rows at first / last col)                      (fixed endpoints)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+  P × Σ x[c,r] · x[c+1,r']   for |r−r'| ≥ 2               (no teleporting)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 P  =  10 × max(cell_cost)     — large enough to prevent violations, small enough for fine optimization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B6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with  neal.SimulatedAnnealingSampler()  — same API as  DWaveSampler()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Validation — Dynamic Programming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16254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dp[c][r]  =  min( dp[c-1][r-1],  dp[c-1][r],  dp[c-1][r+1] )  +  cost[r][c]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Exploits optimal substructure: best path to (c, r) must arrive from best path to a neighbor at c−1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O(rows × cols) — runs instantly on any grid size (replaces exponential brute force)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back through pointers to recover the exact optimal path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validate QUBO: if QUBO fuel is within ~1% of DP, the QUBO formulation is working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FFF7E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840480"/>
            <a:ext cx="54864" cy="914400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886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use DP instead of QUBO?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works for this specific grid structure. But QUBO generalizes to problems where DP doesn't apply (joint speed+route, multi-objective, non-monotone paths). And QUBO is portable to quantum hardware — DP is not.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Routing —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E8772E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QUBO Vars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(t)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QUBO (t)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(t)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Saved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× 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(centre)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× 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× 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6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× 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6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291840"/>
            <a:ext cx="3931920" cy="137160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33832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7–10%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4023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saved by routing around storms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3291840"/>
            <a:ext cx="3931920" cy="1371600"/>
          </a:xfrm>
          <a:prstGeom prst="rect">
            <a:avLst/>
          </a:prstGeom>
          <a:solidFill>
            <a:srgbClr val="F4F6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54880" y="33832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6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1.2%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754880" y="4023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from exact optimum (QUBO is near-optimal)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Routing — Visual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373AD8-1EAF-49DF-3E12-F85326EE3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8" y="1017725"/>
            <a:ext cx="4828045" cy="27588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B720F7-E030-B802-2569-CA07547AF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114" y="2054211"/>
            <a:ext cx="4586886" cy="305792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 Compliance — CO₂ Reporting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E8772E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4572000" cy="153619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 Factor (t CO₂ / t fuel)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MGO (Marine Gas Oil)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VLSFO (Very Low Sulphur)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HFO (Heavy Fuel Oil)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2834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IMO values used in Carbon Intensity Indicator (CII) calculations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669280" y="1188720"/>
            <a:ext cx="3017520" cy="182880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52160" y="1280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155448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fuel saving on tight schedule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16.4 t fuel saved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52.5 t CO₂ saved per leg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fuel saving on relaxed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37.9 t fuel saved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121.8 t CO₂ saved per leg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solidFill>
            <a:srgbClr val="F4F6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3383280"/>
            <a:ext cx="54864" cy="1188720"/>
          </a:xfrm>
          <a:prstGeom prst="rect">
            <a:avLst/>
          </a:prstGeom>
          <a:solidFill>
            <a:srgbClr val="1B65A6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474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CO₂ Reporting Matters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3794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IMO requires ships to report Carbon Intensity Indicator (CII) ratings annually. Ships with poor CII ratings face operational restrictions. Our system automatically converts fuel savings into CO₂ reductions using official IMO emission factors, providing the data needed for compliance reporting.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65836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1556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Lucas, A. (2014) 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"Ising formulations of many NP problems"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Frontiers in Physics  —  The recipe book for encoding optimization problems as QUBOs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82296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6537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Feld, S. et al. (2019) 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Hybrid Solution Method for the Capacitated Vehicle Routing Problem Using a Quantum Annealer"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671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Frontiers in ICT  —  D-Wave applied to fleet routing — same problem structure as ours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96896"/>
            <a:ext cx="8229600" cy="65836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1518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Stollenwerk, T. et al. (2020) 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"Flight Gate Assignment with a Quantum Annealer"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9169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Science and Technology  —  QUBO for transport/trajectory optimization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346704"/>
            <a:ext cx="82296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6499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Ajagekar, A. &amp; You, F. (2019) 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"Quantum computing for energy systems optimization"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66674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 —  QUBO formulations for energy-related scheduling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096512"/>
            <a:ext cx="8229600" cy="65836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D-Wave Systems 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SDK Documentation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4165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docs.ocean.dwavesys.com  —  PyQUBO + neal + DWaveSampler toolchain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strengthens the presentation — state limitations before the audience asks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solidFill>
            <a:srgbClr val="F4F6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54864" cy="731520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08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150876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coefficients are plausible but not calibrated to specific ICG vessels. The model proves the approach works — real ship data would improve accuracy.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solidFill>
            <a:srgbClr val="F4F6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31720"/>
            <a:ext cx="54864" cy="731520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377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Solver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237744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is solved with neal (classical simulated annealing), not real quantum hardware. But the formulation is hardware-portable — one line change to run on D-Wave.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F4F6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00400"/>
            <a:ext cx="54864" cy="731520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46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Optimization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324612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route are optimized separately. In reality they are interdependent. A joint QUBO is planned as a Phase 2+ extension.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solidFill>
            <a:srgbClr val="F4F6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069080"/>
            <a:ext cx="54864" cy="731520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Approximation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411480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ocean is continuous; our grid discretization is an approximation. Finer grids improve accuracy but increase QUBO size.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291840"/>
            <a:ext cx="1828800" cy="274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Fuel Consumption Optimization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Coast Guard — Problem Statement 77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2437</Words>
  <Application>Microsoft Office PowerPoint</Application>
  <PresentationFormat>On-screen Show (16:9)</PresentationFormat>
  <Paragraphs>393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 Consumption Optimization Using AI-Based Tools</dc:title>
  <dc:subject>PptxGenJS Presentation</dc:subject>
  <dc:creator>Maritime Fuel Optimization Team</dc:creator>
  <cp:lastModifiedBy>Amitanshu Lal</cp:lastModifiedBy>
  <cp:revision>2</cp:revision>
  <dcterms:created xsi:type="dcterms:W3CDTF">2026-06-15T08:49:56Z</dcterms:created>
  <dcterms:modified xsi:type="dcterms:W3CDTF">2026-06-15T09:59:30Z</dcterms:modified>
</cp:coreProperties>
</file>